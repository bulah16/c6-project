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4C8FA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431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Linear SVM</c:v>
                  </c:pt>
                  <c:pt idx="1">
                    <c:v>DT (Baseline)</c:v>
                  </c:pt>
                  <c:pt idx="2">
                    <c:v>DT (Tuned)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0.717</c:v>
                </c:pt>
                <c:pt idx="1">
                  <c:v>0.634</c:v>
                </c:pt>
                <c:pt idx="2">
                  <c:v>0.7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Recall</c:v>
                </c:pt>
              </c:strCache>
            </c:strRef>
          </c:tx>
          <c:spPr>
            <a:solidFill>
              <a:srgbClr val="C97B4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431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Linear SVM</c:v>
                  </c:pt>
                  <c:pt idx="1">
                    <c:v>DT (Baseline)</c:v>
                  </c:pt>
                  <c:pt idx="2">
                    <c:v>DT (Tuned)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0.77</c:v>
                </c:pt>
                <c:pt idx="1">
                  <c:v>0.634</c:v>
                </c:pt>
                <c:pt idx="2">
                  <c:v>0.802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Test ROC-AUC</c:v>
                </c:pt>
              </c:strCache>
            </c:strRef>
          </c:tx>
          <c:spPr>
            <a:solidFill>
              <a:srgbClr val="12303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431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Linear SVM</c:v>
                  </c:pt>
                  <c:pt idx="1">
                    <c:v>DT (Baseline)</c:v>
                  </c:pt>
                  <c:pt idx="2">
                    <c:v>DT (Tuned)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0.787</c:v>
                </c:pt>
                <c:pt idx="1">
                  <c:v>0.635</c:v>
                </c:pt>
                <c:pt idx="2">
                  <c:v>0.781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2431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431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4EA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4313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30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0" y="19202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4C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CARDIOCARE   |   PREVENTATIVE CARE ANALYTICS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0" y="2377440"/>
            <a:ext cx="12188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CardioRisk Prediction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0" y="342900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7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Assignment — Analysis &amp; Recommendation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480560" y="4160520"/>
            <a:ext cx="3200400" cy="0"/>
          </a:xfrm>
          <a:prstGeom prst="line">
            <a:avLst/>
          </a:prstGeom>
          <a:noFill/>
          <a:ln w="12700">
            <a:solidFill>
              <a:srgbClr val="3A5A6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0" y="44348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M. Bulah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0" y="484632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health_data.csv — 70,000 patient records, 14 fields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0" y="516636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&amp; report: github.com/bulah16/C6-Project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Deck Covers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C8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75564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Business Objective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21214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CardioCare needs a CVD risk model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5176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C8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7004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Methodology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0358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70,000 records, cleaning, feature engineering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56616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C8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58444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Insights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39502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cardiovascular disease risk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48056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C8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49884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 &amp; Tuning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48646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SVM vs. Decision Tree, GridSearchCV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39496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C8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541324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Recommendation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57790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choice and next steps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CardioRisk Prediction  |  M. Bulah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Business Objective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06240"/>
          </a:xfrm>
          <a:prstGeom prst="rect">
            <a:avLst/>
          </a:prstGeom>
          <a:solidFill>
            <a:srgbClr val="F0F5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7744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4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CardioCare wants to strengthen preventative care as cardiovascular disease (CVD) becomes more prevalent. Doctors’ consultation time is limited, so identifying at-risk patients early is both a clinical and operational priority.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737360"/>
            <a:ext cx="5422392" cy="4206240"/>
          </a:xfrm>
          <a:prstGeom prst="rect">
            <a:avLst/>
          </a:prstGeom>
          <a:solidFill>
            <a:srgbClr val="1230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37960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3774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model that predicts CVD risk from routine check-up data, so CardioCare can: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310896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consultations for high-risk patients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 screening for low-risk patients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 Linear SVM and Decision Tree fairly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and select the best-performing model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CardioRisk Prediction  |  M. Bulah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70,000 patient records  •  14 columns  •  target: cardio (CVD present / absent)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0515600" cy="4023360"/>
        </p:xfrm>
        <a:graphic>
          <a:graphicData uri="http://schemas.openxmlformats.org/drawingml/2006/table">
            <a:tbl>
              <a:tblPr/>
              <a:tblGrid>
                <a:gridCol w="2834640"/>
                <a:gridCol w="630936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(source: days → converted to years)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= Female, 1 = Male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height / weight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 (→ metres) / kg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ap_hi / ap_lo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Systolic / diastolic blood pressure (mmHg)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cholesterol / gluc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= normal, 1 = above, 2 = well above normal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smoke / alco / active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lifestyle indicators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Target: CVD present (1) or absent (0)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3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CardioRisk Prediction  |  M. Bulah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The Analysis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1965960"/>
          </a:xfrm>
          <a:prstGeom prst="rect">
            <a:avLst/>
          </a:prstGeom>
          <a:solidFill>
            <a:srgbClr val="F0F5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8470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C8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957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8803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70,000 × 14 loaded; identifiers dropped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737360"/>
            <a:ext cx="2606040" cy="1965960"/>
          </a:xfrm>
          <a:prstGeom prst="rect">
            <a:avLst/>
          </a:prstGeom>
          <a:solidFill>
            <a:srgbClr val="F0F5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29000" y="18470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C8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3957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8803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Implausible rows removed (1.9%); units fixed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737360"/>
            <a:ext cx="2606040" cy="1965960"/>
          </a:xfrm>
          <a:prstGeom prst="rect">
            <a:avLst/>
          </a:prstGeom>
          <a:solidFill>
            <a:srgbClr val="F0F5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72200" y="18470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C8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23957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28803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Univariate, correlation &amp; bivariate analysis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778240" y="1737360"/>
            <a:ext cx="2606040" cy="1965960"/>
          </a:xfrm>
          <a:prstGeom prst="rect">
            <a:avLst/>
          </a:prstGeom>
          <a:solidFill>
            <a:srgbClr val="F0F5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915400" y="18470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C8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8915400" y="23957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915400" y="28803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derived; scaling; encoding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2606040" cy="1965960"/>
          </a:xfrm>
          <a:prstGeom prst="rect">
            <a:avLst/>
          </a:prstGeom>
          <a:solidFill>
            <a:srgbClr val="E7EFF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40416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C8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459028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Train–Test Split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50749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70/30 stratified, seed = 42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3931920"/>
            <a:ext cx="2606040" cy="1965960"/>
          </a:xfrm>
          <a:prstGeom prst="rect">
            <a:avLst/>
          </a:prstGeom>
          <a:solidFill>
            <a:srgbClr val="E7EFF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429000" y="40416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C8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3429000" y="459028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429000" y="50749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SVM + Decision Tree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35040" y="3931920"/>
            <a:ext cx="2606040" cy="1965960"/>
          </a:xfrm>
          <a:prstGeom prst="rect">
            <a:avLst/>
          </a:prstGeom>
          <a:solidFill>
            <a:srgbClr val="E7EFF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172200" y="40416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C8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6172200" y="459028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172200" y="50749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GridSearchCV, scored on recall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778240" y="3931920"/>
            <a:ext cx="2606040" cy="1965960"/>
          </a:xfrm>
          <a:prstGeom prst="rect">
            <a:avLst/>
          </a:prstGeom>
          <a:solidFill>
            <a:srgbClr val="E7EFF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915400" y="40416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C8F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400" dirty="0"/>
          </a:p>
        </p:txBody>
      </p:sp>
      <p:sp>
        <p:nvSpPr>
          <p:cNvPr id="34" name="Text 32"/>
          <p:cNvSpPr txBox="1"/>
          <p:nvPr/>
        </p:nvSpPr>
        <p:spPr>
          <a:xfrm>
            <a:off x="8915400" y="459028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Selection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8915400" y="50749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ROC-AUC, recall, cutoff sweep comparison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CardioRisk Prediction  |  M. Bulah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 — Target &amp; Correlation</a:t>
            </a:r>
            <a:endParaRPr lang="en-US" sz="3000" dirty="0"/>
          </a:p>
        </p:txBody>
      </p:sp>
      <p:pic>
        <p:nvPicPr>
          <p:cNvPr id="4" name="Image 0" descr="images/target_d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5212080" cy="3632662"/>
          </a:xfrm>
          <a:prstGeom prst="rect">
            <a:avLst/>
          </a:prstGeom>
        </p:spPr>
      </p:pic>
      <p:pic>
        <p:nvPicPr>
          <p:cNvPr id="5" name="Image 1" descr="images/corr_heat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45920"/>
            <a:ext cx="5486400" cy="382385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9893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is near-perfectly balanced (50.5% / 49.5%) — no resampling required.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6126480" y="5989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pressure fields correlate strongly with each other (r = 0.734).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CardioRisk Prediction  |  M. Bulah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CVD Risk?</a:t>
            </a:r>
            <a:endParaRPr lang="en-US" sz="3000" dirty="0"/>
          </a:p>
        </p:txBody>
      </p:sp>
      <p:pic>
        <p:nvPicPr>
          <p:cNvPr id="4" name="Image 0" descr="images/categorical_vs_card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1554480"/>
            <a:ext cx="5943600" cy="36454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737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7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76.3%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1945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CVD rate at "well above normal" cholesterol vs. 43.5% at normal — a 32.8-point spread.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337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7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signal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7947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smoking &amp; alcohol sit within a few points of the 49.5% base rate.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937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7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Counter-intuitive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53949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Smokers &amp; drinkers show slightly lower CVD rates — likely confounding, not protection.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CardioRisk Prediction  |  M. Bulah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Models, Head-to-Head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4206240"/>
          </a:xfrm>
          <a:prstGeom prst="rect">
            <a:avLst/>
          </a:prstGeom>
          <a:solidFill>
            <a:srgbClr val="F0F5F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3566160" cy="502920"/>
          </a:xfrm>
          <a:prstGeom prst="rect">
            <a:avLst/>
          </a:prstGeom>
          <a:solidFill>
            <a:srgbClr val="2E5A6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SVM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688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4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= linear, C = 1.0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4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15,000-row subsample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4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(SVC is O(n²) — full 48k set impractical)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4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Cutoff = 0.40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1737360"/>
            <a:ext cx="3566160" cy="4206240"/>
          </a:xfrm>
          <a:prstGeom prst="rect">
            <a:avLst/>
          </a:prstGeom>
          <a:solidFill>
            <a:srgbClr val="F0F5F7"/>
          </a:solidFill>
          <a:ln/>
        </p:spPr>
      </p:sp>
      <p:sp>
        <p:nvSpPr>
          <p:cNvPr id="9" name="Shape 7"/>
          <p:cNvSpPr/>
          <p:nvPr/>
        </p:nvSpPr>
        <p:spPr>
          <a:xfrm>
            <a:off x="4297680" y="1737360"/>
            <a:ext cx="3566160" cy="502920"/>
          </a:xfrm>
          <a:prstGeom prst="rect">
            <a:avLst/>
          </a:prstGeom>
          <a:solidFill>
            <a:srgbClr val="C24B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80560" y="1737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(Baseline)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4688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4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Unconstrained depth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4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overfitting: train acc. ≈ 1.00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4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test acc. 0.634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4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Motivates hyperparameter tuning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737360"/>
            <a:ext cx="3566160" cy="4206240"/>
          </a:xfrm>
          <a:prstGeom prst="rect">
            <a:avLst/>
          </a:prstGeom>
          <a:solidFill>
            <a:srgbClr val="F0F5F7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0" y="1737360"/>
            <a:ext cx="3566160" cy="502920"/>
          </a:xfrm>
          <a:prstGeom prst="rect">
            <a:avLst/>
          </a:prstGeom>
          <a:solidFill>
            <a:srgbClr val="2E9E6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0" y="1737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(Tuned)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246888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4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GridSearchCV, scored on recall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4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 = 10, min_samples_leaf = 20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4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FULL 48,052-row set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4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Cutoff = 0.40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CardioRisk Prediction  |  M. Bulah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Test-Set Performance — All Three Candidates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110642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unconstrained baseline collapses on unseen data; tuning recovers performance and gives the highest recall of all three.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CardioRisk Prediction  |  M. Bulah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Winning Model Relies On</a:t>
            </a:r>
            <a:endParaRPr lang="en-US" sz="3000" dirty="0"/>
          </a:p>
        </p:txBody>
      </p:sp>
      <p:pic>
        <p:nvPicPr>
          <p:cNvPr id="4" name="Image 0" descr="images/tuned_feat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5486400" cy="3605349"/>
          </a:xfrm>
          <a:prstGeom prst="rect">
            <a:avLst/>
          </a:prstGeom>
        </p:spPr>
      </p:pic>
      <p:pic>
        <p:nvPicPr>
          <p:cNvPr id="5" name="Image 1" descr="images/svm_ro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45920"/>
            <a:ext cx="5303520" cy="358767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989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ap_lo (48.6%) + ap_hi (27.9%) drive 76.5% of the Tuned Decision Tree’s decisions.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6309360" y="59893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SVM ROC curve — test ROC-AUC 0.787, close to the tuned tree’s 0.781.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CardioRisk Prediction  |  M. Bulah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Q&amp;A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 &amp; Q2 — Insights &amp; Predictors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4389120"/>
          </a:xfrm>
          <a:prstGeom prst="rect">
            <a:avLst/>
          </a:prstGeom>
          <a:solidFill>
            <a:srgbClr val="F0F5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Health-metric relationships with CVD?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4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pressure: clearest numerical separator between CVD / non-CVD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4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Cholesterol: 43.5% → 76.3% CVD rate as level rises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4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Glucose: smaller but consistent gradient (47.6% → 61.8%)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4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smoking, alcohol: weak standalone predictors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5440680" cy="4389120"/>
          </a:xfrm>
          <a:prstGeom prst="rect">
            <a:avLst/>
          </a:prstGeom>
          <a:solidFill>
            <a:srgbClr val="1230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46520" y="17373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Strongest predictors? Any surprises?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3317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ap_lo + ap_hi = 76.5% of the tuned model’s decisions; cholesterol and age make up most of the rest.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46520" y="3520440"/>
            <a:ext cx="4663440" cy="2194560"/>
          </a:xfrm>
          <a:prstGeom prst="rect">
            <a:avLst/>
          </a:prstGeom>
          <a:solidFill>
            <a:srgbClr val="1B465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29400" y="36576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Surprising finding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4023360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Smokers (46.8%) and drinkers (47.7%) show slightly lower CVD rates than non-users — the opposite of clinical evidence, most likely confounding in the sample rather than a real protective effect.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CardioRisk Prediction  |  M. Bulah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Q&amp;A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 &amp; Q4 — Model Effectiveness &amp; Integration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How effectively can ML models identify at-risk individuals?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10881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4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Regularised models (SVM, Tuned DT) both reach ROC-AUC ≈ 0.78–0.79 — well above the 0.50 baseline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4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unconstrained baseline shows how badly an untuned model performs on unseen data (AUC 0.635)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4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is precise enough to stand alone — all are best used as a triage aid, not a diagnostic replacement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657600"/>
            <a:ext cx="11064240" cy="0"/>
          </a:xfrm>
          <a:prstGeom prst="line">
            <a:avLst/>
          </a:prstGeom>
          <a:noFill/>
          <a:ln w="12700">
            <a:solidFill>
              <a:srgbClr val="DCE4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3794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Integrating the model into CardioCare’s workflow?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20624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4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Tuned Decision Tree as a pre-consultation screening filter; flag patients ≥ 0.40 probability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4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every score with its top contributing factors so clinicians can sanity-check it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4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secondary clinical review step — roughly 20% of true CVD cases may still be missed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4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periodically; invest in richer features (ECG, family history, HbA1c) to raise the AUC ceiling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CardioRisk Prediction  |  M. Bulah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Assumptions Made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4297680"/>
          </a:xfrm>
          <a:prstGeom prst="rect">
            <a:avLst/>
          </a:prstGeom>
          <a:solidFill>
            <a:srgbClr val="F0F5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Cleaning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3172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4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recorded in days → converted to years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4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in cm → converted to metres for BMI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4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Implausible BP/height/weight rows removed, not imputed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4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missing-value imputation needed (zero nulls)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97680" y="1691640"/>
            <a:ext cx="3566160" cy="4297680"/>
          </a:xfrm>
          <a:prstGeom prst="rect">
            <a:avLst/>
          </a:prstGeom>
          <a:solidFill>
            <a:srgbClr val="F0F5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480560" y="1828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33172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4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"Above normal" &amp; "well above normal" merged to "elevated"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4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replaces height &amp; weight (r = 0.856 with weight)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4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smoke/alco/active kept as-is; only gender/chol./gluc dummy-encoded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4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 fit on train only, applied to test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0" y="1691640"/>
            <a:ext cx="3566160" cy="4297680"/>
          </a:xfrm>
          <a:prstGeom prst="rect">
            <a:avLst/>
          </a:prstGeom>
          <a:solidFill>
            <a:srgbClr val="1230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0" y="1828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233172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7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trained on a 15,000-row random subsample (seed 42)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7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 cutoff used throughout — favours recall over precision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7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scored on recall, not accuracy/AUC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7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RBF-kernel SVM / third model not pursued (scope &amp; compute)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CardioRisk Prediction  |  M. Bulah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3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C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the Tuned Decision Tree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CardioCare’s primary CVD screening model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88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7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0.802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00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Recall (highest of 3)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337560" y="24688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7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0.781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337560" y="3200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ROC-AUC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24688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7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0.011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3200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Train–Test Gap (well controlled)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915400" y="24688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7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48,052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915400" y="3200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trained on (full set)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069080"/>
            <a:ext cx="11064240" cy="0"/>
          </a:xfrm>
          <a:prstGeom prst="line">
            <a:avLst/>
          </a:prstGeom>
          <a:noFill/>
          <a:ln w="12700">
            <a:solidFill>
              <a:srgbClr val="2C4C5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343400"/>
            <a:ext cx="11064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A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test recall — catches the largest share of true CVD-positive patients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A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close to the Linear SVM’s, but trained on the full 48,052-row set, not a subsample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A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well controlled (train–test gap of just 0.011)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A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Remains interpretable — clinicians can review why a patient was flagged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A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features (blood pressure, cholesterol) are clinically meaningful and actionable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CardioRisk Prediction  |  M. Bulah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37744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2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0" y="32918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E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CardioRisk Prediction  —  M. Bulah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0" y="39776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notebook, dataset and report available at: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0" y="434340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github.com/bulah16/C6-Project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CardioRisk Prediction</dc:title>
  <dc:subject>PptxGenJS Presentation</dc:subject>
  <dc:creator>M. Bulah</dc:creator>
  <cp:lastModifiedBy>M. Bulah</cp:lastModifiedBy>
  <cp:revision>1</cp:revision>
  <dcterms:created xsi:type="dcterms:W3CDTF">2026-09-27T06:10:51Z</dcterms:created>
  <dcterms:modified xsi:type="dcterms:W3CDTF">2026-09-27T06:10:51Z</dcterms:modified>
</cp:coreProperties>
</file>